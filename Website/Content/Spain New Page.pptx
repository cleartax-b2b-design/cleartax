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Ankit Arora"/>
  <p:cmAuthor clrIdx="1" id="1" initials="" lastIdx="2" name="Christopher Freita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BE935D-86C7-4780-8F90-9B319EC288F8}">
  <a:tblStyle styleId="{EEBE935D-86C7-4780-8F90-9B319EC288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aleway-regular.fntdata"/><Relationship Id="rId25" Type="http://schemas.openxmlformats.org/officeDocument/2006/relationships/slide" Target="slides/slide18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font" Target="fonts/Raleway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4.xml"/><Relationship Id="rId33" Type="http://schemas.openxmlformats.org/officeDocument/2006/relationships/font" Target="fonts/Lato-boldItalic.fntdata"/><Relationship Id="rId10" Type="http://schemas.openxmlformats.org/officeDocument/2006/relationships/slide" Target="slides/slide3.xml"/><Relationship Id="rId32" Type="http://schemas.openxmlformats.org/officeDocument/2006/relationships/font" Target="fonts/Lat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28T09:38:18.272">
    <p:pos x="6000" y="0"/>
    <p:text>@christopher.freitas@clear.in please help here for product content and USP.
cc: @pragati.ojha@clear.in @sneha.prasad@clear.in
_Reassigned to Christopher Freitas_</p:text>
  </p:cm>
  <p:cm authorId="1" idx="1" dt="2026-09-28T09:38:18.272">
    <p:pos x="6000" y="0"/>
    <p:text>Done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9-28T09:38:23.757">
    <p:pos x="6000" y="0"/>
    <p:text>@christopher.freitas@clear.in please help here for product content and USP.
cc: @pragati.ojha@clear.in @sneha.prasad@clear.in
_Reassigned to Christopher Freitas_</p:text>
  </p:cm>
  <p:cm authorId="1" idx="2" dt="2026-09-28T09:38:23.757">
    <p:pos x="6000" y="0"/>
    <p:text>Done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a3c898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a3c89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40a274282b1_1_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40a274282b1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40a274282b1_1_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40a274282b1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54fbaf338e5bf97a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54fbaf338e5bf97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0a274282b1_1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40a274282b1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40a274282b1_1_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40a274282b1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a274282b1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0a274282b1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0a274282b1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0a274282b1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54fbaf338e5bf9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54fbaf338e5bf9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0a274282b1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40a274282b1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40a274282b1_1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40a274282b1_1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6fa3c898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c6fa3c89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a274282b1_1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a274282b1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0a274282b1_1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40a274282b1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0a274282b1_1_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0a274282b1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0a274282b1_1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40a274282b1_1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2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Spain E-invoicing Campaign Page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134150" y="120875"/>
            <a:ext cx="8880600" cy="49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FOLD 1 — HERO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Eyebrow: </a:t>
            </a:r>
            <a:r>
              <a:rPr b="0" lang="en" sz="1100"/>
              <a:t>SPAIN B2B E-INVOICING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Header:</a:t>
            </a:r>
            <a:r>
              <a:rPr lang="en" sz="1700"/>
              <a:t> </a:t>
            </a:r>
            <a:r>
              <a:rPr lang="en" sz="1500"/>
              <a:t>Spain E-Invoicing: There’s More Than Meets the Eye</a:t>
            </a:r>
            <a:r>
              <a:rPr b="0" lang="en" sz="1500"/>
              <a:t>.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Sub copy: </a:t>
            </a:r>
            <a:r>
              <a:rPr i="1" lang="en" sz="1400"/>
              <a:t>What you see is just the tip of e-invoicing iceberg.</a:t>
            </a:r>
            <a:endParaRPr i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Paragraph</a:t>
            </a:r>
            <a:r>
              <a:rPr b="0" lang="en" sz="1400"/>
              <a:t>: The mandate may look like one </a:t>
            </a:r>
            <a:r>
              <a:rPr b="0" lang="en" sz="1400"/>
              <a:t>deadline</a:t>
            </a:r>
            <a:r>
              <a:rPr b="0" lang="en" sz="1400"/>
              <a:t> in 2027-28. </a:t>
            </a:r>
            <a:r>
              <a:rPr b="0" lang="en" sz="1400"/>
              <a:t>Deadline is </a:t>
            </a:r>
            <a:r>
              <a:rPr b="0" lang="en" sz="1400"/>
              <a:t>only the beginning. The real complexity sits underneath the tip of the iceberg - </a:t>
            </a:r>
            <a:r>
              <a:rPr lang="en" sz="1400"/>
              <a:t>SII, Crea y Crece, VeriFactu,</a:t>
            </a:r>
            <a:r>
              <a:rPr b="0" lang="en" sz="1400"/>
              <a:t> </a:t>
            </a:r>
            <a:r>
              <a:rPr lang="en" sz="1400"/>
              <a:t>Invoice-status reporting, and </a:t>
            </a:r>
            <a:r>
              <a:rPr lang="en" sz="1400"/>
              <a:t>data flows.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/>
              <a:t>Understand what applies to your business, </a:t>
            </a:r>
            <a:r>
              <a:rPr b="0" lang="en" sz="1400"/>
              <a:t>clear the myths, </a:t>
            </a:r>
            <a:r>
              <a:rPr b="0" lang="en" sz="1400"/>
              <a:t>and how to integrate </a:t>
            </a:r>
            <a:r>
              <a:rPr b="0" lang="en" sz="1400"/>
              <a:t>compliance</a:t>
            </a:r>
            <a:r>
              <a:rPr b="0" lang="en" sz="1400"/>
              <a:t> layer for what's coming next.</a:t>
            </a:r>
            <a:endParaRPr b="0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CTA: Get Spain E-Invoicing Clarity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Lead form on the </a:t>
            </a:r>
            <a:r>
              <a:rPr lang="en" sz="1400"/>
              <a:t>right</a:t>
            </a:r>
            <a:r>
              <a:rPr lang="en" sz="1400"/>
              <a:t> side</a:t>
            </a:r>
            <a:endParaRPr b="0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idx="4294967295" type="title"/>
          </p:nvPr>
        </p:nvSpPr>
        <p:spPr>
          <a:xfrm>
            <a:off x="134150" y="86550"/>
            <a:ext cx="8880600" cy="49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FOLD 2 — 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TRUST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Header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Trusted by 6000+ 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Enterprise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Across 50+ Countries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1200">
                <a:latin typeface="Arial"/>
                <a:ea typeface="Arial"/>
                <a:cs typeface="Arial"/>
                <a:sym typeface="Arial"/>
              </a:rPr>
              <a:t>Then logos.</a:t>
            </a:r>
            <a:endParaRPr b="0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idx="4294967295" type="title"/>
          </p:nvPr>
        </p:nvSpPr>
        <p:spPr>
          <a:xfrm>
            <a:off x="134150" y="86550"/>
            <a:ext cx="8880600" cy="49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FOLD 3 - MYTHS VS REALITY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Header: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Spain E-Invoicing Myths That Can Cost You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Para: </a:t>
            </a:r>
            <a:r>
              <a:rPr b="0" lang="en" sz="1400">
                <a:latin typeface="Arial"/>
                <a:ea typeface="Arial"/>
                <a:cs typeface="Arial"/>
                <a:sym typeface="Arial"/>
              </a:rPr>
              <a:t>Spain brings together multiple compliance layers - each with its own scope, data and reporting requirements. That's where the complexity starts and </a:t>
            </a:r>
            <a:r>
              <a:rPr b="0" lang="en" sz="1400">
                <a:latin typeface="Arial"/>
                <a:ea typeface="Arial"/>
                <a:cs typeface="Arial"/>
                <a:sym typeface="Arial"/>
              </a:rPr>
              <a:t>breeds</a:t>
            </a:r>
            <a:r>
              <a:rPr b="0" lang="en" sz="1400">
                <a:latin typeface="Arial"/>
                <a:ea typeface="Arial"/>
                <a:cs typeface="Arial"/>
                <a:sym typeface="Arial"/>
              </a:rPr>
              <a:t> myths around the mandate. Let’s clear the air about the mandate.</a:t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MYTH 01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“We’re already SII-compliant. We’re not covered in Spain’s e-invoicing.”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REALITY content on left side: —--------				</a:t>
            </a:r>
            <a:r>
              <a:rPr lang="en" sz="14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Graphic idea on right side: </a:t>
            </a:r>
            <a:r>
              <a:rPr b="0" lang="en" sz="15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Two parallel cards</a:t>
            </a:r>
            <a:r>
              <a:rPr b="0" lang="en" sz="13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300">
                <a:latin typeface="Arial"/>
                <a:ea typeface="Arial"/>
                <a:cs typeface="Arial"/>
                <a:sym typeface="Arial"/>
              </a:rPr>
              <a:t>							</a:t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vs.</a:t>
            </a:r>
            <a:br>
              <a:rPr b="0" lang="en" sz="1300">
                <a:latin typeface="Arial"/>
                <a:ea typeface="Arial"/>
                <a:cs typeface="Arial"/>
                <a:sym typeface="Arial"/>
              </a:rPr>
            </a:br>
            <a:r>
              <a:rPr b="0" lang="en" sz="1300">
                <a:latin typeface="Arial"/>
                <a:ea typeface="Arial"/>
                <a:cs typeface="Arial"/>
                <a:sym typeface="Arial"/>
              </a:rPr>
              <a:t>	</a:t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endParaRPr b="0" sz="1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</p:txBody>
      </p:sp>
      <p:sp>
        <p:nvSpPr>
          <p:cNvPr id="88" name="Google Shape;88;p16"/>
          <p:cNvSpPr txBox="1"/>
          <p:nvPr/>
        </p:nvSpPr>
        <p:spPr>
          <a:xfrm>
            <a:off x="5324925" y="2728621"/>
            <a:ext cx="2678100" cy="214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B2B E-INVOICING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Invoice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 ↓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 Customer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 ↓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 Status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 ↓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 Payment information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793023" y="2877425"/>
            <a:ext cx="2300400" cy="199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2"/>
                </a:solidFill>
              </a:rPr>
              <a:t>SII </a:t>
            </a:r>
            <a:endParaRPr b="1" sz="1300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Invoice records  	</a:t>
            </a:r>
            <a:br>
              <a:rPr lang="en" sz="1300">
                <a:solidFill>
                  <a:schemeClr val="dk2"/>
                </a:solidFill>
              </a:rPr>
            </a:br>
            <a:r>
              <a:rPr lang="en" sz="1300">
                <a:solidFill>
                  <a:schemeClr val="dk2"/>
                </a:solidFill>
              </a:rPr>
              <a:t>		 ↓</a:t>
            </a:r>
            <a:br>
              <a:rPr lang="en" sz="1300">
                <a:solidFill>
                  <a:schemeClr val="dk2"/>
                </a:solidFill>
              </a:rPr>
            </a:br>
            <a:r>
              <a:rPr lang="en" sz="1300">
                <a:solidFill>
                  <a:schemeClr val="dk2"/>
                </a:solidFill>
              </a:rPr>
              <a:t>	       AEAT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idx="4294967295" type="title"/>
          </p:nvPr>
        </p:nvSpPr>
        <p:spPr>
          <a:xfrm>
            <a:off x="134150" y="86550"/>
            <a:ext cx="8880600" cy="49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i="1" lang="en" sz="1300">
                <a:latin typeface="Arial"/>
                <a:ea typeface="Arial"/>
                <a:cs typeface="Arial"/>
                <a:sym typeface="Arial"/>
              </a:rPr>
              <a:t>Flip the sides of graphic and content</a:t>
            </a:r>
            <a:endParaRPr i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MYTH 02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SII makes both sides report VAT.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Crea y Crece does the same.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(We don’t need to do anything new.)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”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REALITY content on right side: —-----------------------------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Graphic idea on left  side:</a:t>
            </a:r>
            <a:r>
              <a:rPr b="0" lang="en" sz="13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b="0" sz="1300">
              <a:highlight>
                <a:srgbClr val="00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300">
                <a:latin typeface="Arial"/>
                <a:ea typeface="Arial"/>
                <a:cs typeface="Arial"/>
                <a:sym typeface="Arial"/>
              </a:rPr>
              <a:t>								</a:t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endParaRPr b="0" sz="1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</p:txBody>
      </p:sp>
      <p:sp>
        <p:nvSpPr>
          <p:cNvPr id="95" name="Google Shape;95;p17"/>
          <p:cNvSpPr txBox="1"/>
          <p:nvPr/>
        </p:nvSpPr>
        <p:spPr>
          <a:xfrm>
            <a:off x="4947300" y="1754850"/>
            <a:ext cx="2460600" cy="285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SELLER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Issue → Send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↓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BUYER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Receive → Accept/Reject → Pay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↓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AEAT / PUBLIC SOLUTION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Status + payment information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4294967295" type="title"/>
          </p:nvPr>
        </p:nvSpPr>
        <p:spPr>
          <a:xfrm>
            <a:off x="134150" y="86550"/>
            <a:ext cx="8880600" cy="49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i="1" lang="en" sz="1300">
                <a:latin typeface="Arial"/>
                <a:ea typeface="Arial"/>
                <a:cs typeface="Arial"/>
                <a:sym typeface="Arial"/>
              </a:rPr>
              <a:t>Flip the sides of graphic and content</a:t>
            </a:r>
            <a:endParaRPr i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MYTH 03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An invoice with a QR code, makes us e-invoicing compliant!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”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REALITY content on left side: —-----------------------------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Graphic idea on right  side:</a:t>
            </a:r>
            <a:r>
              <a:rPr b="0" lang="en" sz="13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b="0" sz="1300">
              <a:highlight>
                <a:srgbClr val="00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300">
                <a:latin typeface="Arial"/>
                <a:ea typeface="Arial"/>
                <a:cs typeface="Arial"/>
                <a:sym typeface="Arial"/>
              </a:rPr>
              <a:t>								</a:t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endParaRPr b="0" sz="1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idx="4294967295" type="title"/>
          </p:nvPr>
        </p:nvSpPr>
        <p:spPr>
          <a:xfrm>
            <a:off x="134150" y="86550"/>
            <a:ext cx="8880600" cy="49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i="1" lang="en" sz="1300">
                <a:latin typeface="Arial"/>
                <a:ea typeface="Arial"/>
                <a:cs typeface="Arial"/>
                <a:sym typeface="Arial"/>
              </a:rPr>
              <a:t>Flip the sides of graphic and content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MYTH 02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The buyers only have to report when an invoice is clearly accepted, rejected, or paid.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”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REALITY content on left side: —-----------------------------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Graphic idea on right side: </a:t>
            </a:r>
            <a:endParaRPr sz="1400">
              <a:highlight>
                <a:srgbClr val="00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300">
                <a:latin typeface="Arial"/>
                <a:ea typeface="Arial"/>
                <a:cs typeface="Arial"/>
                <a:sym typeface="Arial"/>
              </a:rPr>
              <a:t>							</a:t>
            </a:r>
            <a:r>
              <a:rPr b="0" lang="en" sz="2100">
                <a:latin typeface="Arial"/>
                <a:ea typeface="Arial"/>
                <a:cs typeface="Arial"/>
                <a:sym typeface="Arial"/>
              </a:rPr>
              <a:t>→ </a:t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There are 7 more myths on E-Invoicing that we have cleared the air about in our report.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CTA: </a:t>
            </a:r>
            <a:r>
              <a:rPr b="0" lang="en" sz="1300">
                <a:latin typeface="Arial"/>
                <a:ea typeface="Arial"/>
                <a:cs typeface="Arial"/>
                <a:sym typeface="Arial"/>
              </a:rPr>
              <a:t>Download Myth vs Facts</a:t>
            </a:r>
            <a:endParaRPr b="0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</p:txBody>
      </p:sp>
      <p:sp>
        <p:nvSpPr>
          <p:cNvPr id="106" name="Google Shape;106;p19"/>
          <p:cNvSpPr txBox="1"/>
          <p:nvPr/>
        </p:nvSpPr>
        <p:spPr>
          <a:xfrm>
            <a:off x="1147775" y="2043375"/>
            <a:ext cx="2460600" cy="1888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Buyer</a:t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Accept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Reject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Paid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Partial acceptance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Payment term changed </a:t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4901500" y="2043525"/>
            <a:ext cx="2941200" cy="1888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Report to Government within 4 days of event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(silence is presumed acceptance)</a:t>
            </a:r>
            <a:endParaRPr b="1" i="1"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idx="4294967295" type="title"/>
          </p:nvPr>
        </p:nvSpPr>
        <p:spPr>
          <a:xfrm>
            <a:off x="134150" y="86550"/>
            <a:ext cx="8880600" cy="49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Fold 4th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: Spain E-invoicing made easy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Header</a:t>
            </a:r>
            <a:r>
              <a:rPr b="0" lang="en" sz="13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One Invoice. Two Compliance Flows. Multiple Reporting.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Sub copy: </a:t>
            </a:r>
            <a:r>
              <a:rPr b="0" lang="en" sz="1300">
                <a:latin typeface="Arial"/>
                <a:ea typeface="Arial"/>
                <a:cs typeface="Arial"/>
                <a:sym typeface="Arial"/>
              </a:rPr>
              <a:t>SII and Crea y Crece don't replace each other. They operate on different parts of the invoice lifecycle.</a:t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Graphic ideas on next 2 slides: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/>
        </p:nvSpPr>
        <p:spPr>
          <a:xfrm>
            <a:off x="197900" y="201000"/>
            <a:ext cx="8823600" cy="47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See how invoices move end to end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Your invoice journey under SII: </a:t>
            </a:r>
            <a:endParaRPr b="1"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650" y="977776"/>
            <a:ext cx="6871975" cy="393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/>
        </p:nvSpPr>
        <p:spPr>
          <a:xfrm>
            <a:off x="197900" y="201000"/>
            <a:ext cx="8823600" cy="47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Left side: 				Your invoice journey under Crea y Crece</a:t>
            </a:r>
            <a:endParaRPr b="1"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431" y="876196"/>
            <a:ext cx="8202250" cy="3894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/>
        </p:nvSpPr>
        <p:spPr>
          <a:xfrm>
            <a:off x="197900" y="3268050"/>
            <a:ext cx="67635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 </a:t>
            </a:r>
            <a:r>
              <a:rPr b="1" lang="en" sz="1500">
                <a:solidFill>
                  <a:schemeClr val="dk2"/>
                </a:solidFill>
              </a:rPr>
              <a:t>CTA: Get the full Spain compliance playbook</a:t>
            </a:r>
            <a:r>
              <a:rPr b="1" lang="en">
                <a:solidFill>
                  <a:schemeClr val="dk2"/>
                </a:solidFill>
              </a:rPr>
              <a:t> </a:t>
            </a:r>
            <a:endParaRPr sz="2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234613" y="876175"/>
            <a:ext cx="4062600" cy="1762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SII - VAT reporting to AEAT</a:t>
            </a:r>
            <a:endParaRPr b="1"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Who?</a:t>
            </a:r>
            <a:endParaRPr b="1"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Large businesses, VAT groups, REDEME and other specified taxpayers.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What?</a:t>
            </a:r>
            <a:endParaRPr b="1"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Invoice-record information.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4491888" y="876175"/>
            <a:ext cx="4417500" cy="1762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Crea y Crece - B2B E-Invoicing</a:t>
            </a:r>
            <a:endParaRPr b="1"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Who?</a:t>
            </a:r>
            <a:endParaRPr b="1"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Businesses and professionals within the scope of the B2B e-invoicing framework.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What?</a:t>
            </a:r>
            <a:endParaRPr b="1"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Structured electronic invoices and invoice-state/payment information.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" name="Google Shape;136;p24"/>
          <p:cNvGraphicFramePr/>
          <p:nvPr/>
        </p:nvGraphicFramePr>
        <p:xfrm>
          <a:off x="755238" y="149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{EEBE935D-86C7-4780-8F90-9B319EC288F8}</a:tableStyleId>
              </a:tblPr>
              <a:tblGrid>
                <a:gridCol w="2503875"/>
                <a:gridCol w="2516050"/>
                <a:gridCol w="2613600"/>
              </a:tblGrid>
              <a:tr h="58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 y Crece ready before the mandate lands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registered Peppol Access Point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SII and Crea y Crece on one platform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Issue and receive EN 16931 invoices in UBL, CII, EDIFACT or Facturae. Accept, reject and paid events are captured and reported inside the four-day window.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Exchange electronic invoices securely through the Peppol network, interoperable with the AEAT's public SPFE.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Generate and submit accurate Libros Registro to the AEAT within the four-day SII deadline, with built-in reconciliation against Datos Fiscales.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platform across 50+ countries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Works with the ERP you already run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Scales with your invoice volume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 every e-invoicing mandate through one platform and API. Each new country needs only configuration.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Connect your ERP, billing system or OMS to our platform through certified, prebuilt connectors, API or SFTP.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Enterprise invoice volumes grow and spike. ClearTax keeps up, and auto-healing validations catch errors before a submission fails.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" name="Google Shape;137;p24"/>
          <p:cNvSpPr txBox="1"/>
          <p:nvPr/>
        </p:nvSpPr>
        <p:spPr>
          <a:xfrm>
            <a:off x="113850" y="182550"/>
            <a:ext cx="5397900" cy="9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Fold 10: </a:t>
            </a:r>
            <a:r>
              <a:rPr b="1"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Everything you need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Header: </a:t>
            </a:r>
            <a:r>
              <a:rPr b="1" lang="en" sz="16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Header: How ClearTax Saves You From the Iceberg?</a:t>
            </a:r>
            <a:endParaRPr b="1" sz="16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Sub copy</a:t>
            </a:r>
            <a:r>
              <a:rPr lang="en" sz="15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Manage Compliance with Confidence.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/>
        </p:nvSpPr>
        <p:spPr>
          <a:xfrm>
            <a:off x="152125" y="987123"/>
            <a:ext cx="8823600" cy="22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A dedicated local expert from kickoff to go-live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 dedicated ClearTax expert in your market guides your implementation and stays with you as requirements change.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Mandate changes don't land on your IT team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Spain's rules are still moving. ClearTax updates the platform when they change, so your team doesn't re-implement.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Independently audited security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SOC 2 Type II and ISO 27001:2022 audited controls, third-party security testing, role-based access, and encryption in transit and at rest.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203575" y="3305800"/>
            <a:ext cx="8720700" cy="1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Independently audited: </a:t>
            </a:r>
            <a:endParaRPr b="1" sz="135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26303B"/>
              </a:buClr>
              <a:buSzPts val="1350"/>
              <a:buFont typeface="Calibri"/>
              <a:buChar char="-"/>
            </a:pPr>
            <a:r>
              <a:rPr lang="en" sz="1350">
                <a:solidFill>
                  <a:srgbClr val="26303B"/>
                </a:solidFill>
                <a:latin typeface="Calibri"/>
                <a:ea typeface="Calibri"/>
                <a:cs typeface="Calibri"/>
                <a:sym typeface="Calibri"/>
              </a:rPr>
              <a:t>ISO 27001:2022</a:t>
            </a:r>
            <a:endParaRPr sz="1350">
              <a:solidFill>
                <a:srgbClr val="2630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26303B"/>
              </a:buClr>
              <a:buSzPts val="1350"/>
              <a:buFont typeface="Calibri"/>
              <a:buChar char="-"/>
            </a:pPr>
            <a:r>
              <a:rPr lang="en" sz="1350">
                <a:solidFill>
                  <a:srgbClr val="26303B"/>
                </a:solidFill>
                <a:latin typeface="Calibri"/>
                <a:ea typeface="Calibri"/>
                <a:cs typeface="Calibri"/>
                <a:sym typeface="Calibri"/>
              </a:rPr>
              <a:t>SOC 2 Type II</a:t>
            </a:r>
            <a:endParaRPr sz="1350">
              <a:solidFill>
                <a:srgbClr val="2630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26303B"/>
              </a:buClr>
              <a:buSzPts val="1350"/>
              <a:buFont typeface="Calibri"/>
              <a:buChar char="-"/>
            </a:pPr>
            <a:r>
              <a:rPr lang="en" sz="1350">
                <a:solidFill>
                  <a:srgbClr val="26303B"/>
                </a:solidFill>
                <a:latin typeface="Calibri"/>
                <a:ea typeface="Calibri"/>
                <a:cs typeface="Calibri"/>
                <a:sym typeface="Calibri"/>
              </a:rPr>
              <a:t>GDPR-ready</a:t>
            </a:r>
            <a:endParaRPr sz="1350">
              <a:solidFill>
                <a:srgbClr val="2630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26303B"/>
              </a:buClr>
              <a:buSzPts val="1350"/>
              <a:buFont typeface="Calibri"/>
              <a:buChar char="-"/>
            </a:pPr>
            <a:r>
              <a:rPr lang="en" sz="1350">
                <a:solidFill>
                  <a:srgbClr val="26303B"/>
                </a:solidFill>
                <a:latin typeface="Calibri"/>
                <a:ea typeface="Calibri"/>
                <a:cs typeface="Calibri"/>
                <a:sym typeface="Calibri"/>
              </a:rPr>
              <a:t>AES-256 encryption at rest</a:t>
            </a:r>
            <a:endParaRPr sz="1350">
              <a:solidFill>
                <a:srgbClr val="2630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26303B"/>
              </a:buClr>
              <a:buSzPts val="1350"/>
              <a:buFont typeface="Calibri"/>
              <a:buChar char="-"/>
            </a:pPr>
            <a:r>
              <a:rPr lang="en" sz="1350">
                <a:solidFill>
                  <a:srgbClr val="26303B"/>
                </a:solidFill>
                <a:latin typeface="Calibri"/>
                <a:ea typeface="Calibri"/>
                <a:cs typeface="Calibri"/>
                <a:sym typeface="Calibri"/>
              </a:rPr>
              <a:t>3rd party VAPT</a:t>
            </a:r>
            <a:endParaRPr sz="1350">
              <a:solidFill>
                <a:srgbClr val="2630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113850" y="182550"/>
            <a:ext cx="53979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Fold 10: ClearTax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300"/>
              </a:spcAft>
              <a:buNone/>
            </a:pPr>
            <a:r>
              <a:rPr b="1" lang="en" sz="15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Iconography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232225" y="575950"/>
            <a:ext cx="8489700" cy="32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Ready to evaluate your Spain readiness?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/>
              <a:t>Get a personalised gap assessment across Crea y Crece and SII, mapped to your ERP, before the phase-in countdown begins.</a:t>
            </a:r>
            <a:endParaRPr b="0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CTA: Talk to us</a:t>
            </a:r>
            <a:endParaRPr sz="2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/>
        </p:nvSpPr>
        <p:spPr>
          <a:xfrm>
            <a:off x="83450" y="63675"/>
            <a:ext cx="8766300" cy="1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Next fold</a:t>
            </a:r>
            <a:endParaRPr b="1"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Header: What’s the difference in four-day deadlines under SII and Crea y Crece?</a:t>
            </a:r>
            <a:endParaRPr b="1"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Para:</a:t>
            </a: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Both say "four days," but they're different obligations, with different triggers, doing different jobs.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55" name="Google Shape;155;p27"/>
          <p:cNvGraphicFramePr/>
          <p:nvPr/>
        </p:nvGraphicFramePr>
        <p:xfrm>
          <a:off x="518600" y="11623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{EEBE935D-86C7-4780-8F90-9B319EC288F8}</a:tableStyleId>
              </a:tblPr>
              <a:tblGrid>
                <a:gridCol w="1048000"/>
                <a:gridCol w="3453700"/>
                <a:gridCol w="3364600"/>
              </a:tblGrid>
              <a:tr h="337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 y Crece - status reporting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SII - VAT reporting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it is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 the invoice's </a:t>
                      </a:r>
                      <a:r>
                        <a:rPr i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commercial status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 invoice </a:t>
                      </a:r>
                      <a:r>
                        <a:rPr i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VAT data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the tax ledger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scope/applicability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</a:t>
                      </a: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recipient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(buyer)  (mainly large firms, &gt;€8M turnover)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</a:t>
                      </a: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taxpayer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issuing/receiving (mainly large firms, &gt;€6M turnover)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Trigger event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 event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rejection date, or effective payment date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Issuing or receiving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the invoice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four days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days, excluding weekends &amp; national holidays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days, excluding weekends &amp; national holidays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 today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yet in force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activates with the Ministerial Order (projected 2027/2028)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Live since 2017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Exposes late payments, track the payment lifecycle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Give AEAT near-real-time VAT visibility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idx="4294967295" type="title"/>
          </p:nvPr>
        </p:nvSpPr>
        <p:spPr>
          <a:xfrm>
            <a:off x="134150" y="86550"/>
            <a:ext cx="8880600" cy="45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Fold 6th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THE CFO QUESTION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Header: 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How Many Compliance Clocks Are You Running?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Sub copy: </a:t>
            </a:r>
            <a:r>
              <a:rPr b="0" lang="en" sz="1300">
                <a:latin typeface="Arial"/>
                <a:ea typeface="Arial"/>
                <a:cs typeface="Arial"/>
                <a:sym typeface="Arial"/>
              </a:rPr>
              <a:t>The same invoice can create more than one reporting event.</a:t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Graphic idea: </a:t>
            </a:r>
            <a:r>
              <a:rPr b="0" lang="en" sz="15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show three clocks</a:t>
            </a:r>
            <a:endParaRPr b="0" sz="1500">
              <a:highlight>
                <a:srgbClr val="00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300">
                <a:latin typeface="Arial"/>
                <a:ea typeface="Arial"/>
                <a:cs typeface="Arial"/>
                <a:sym typeface="Arial"/>
              </a:rPr>
              <a:t>		</a:t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CTA: See the full Spain compliance playbook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endParaRPr b="0" sz="1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</p:txBody>
      </p:sp>
      <p:sp>
        <p:nvSpPr>
          <p:cNvPr id="161" name="Google Shape;161;p28"/>
          <p:cNvSpPr txBox="1"/>
          <p:nvPr/>
        </p:nvSpPr>
        <p:spPr>
          <a:xfrm>
            <a:off x="312325" y="2100750"/>
            <a:ext cx="1545000" cy="139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CLOCK 01</a:t>
            </a:r>
            <a:endParaRPr b="1"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Invoice issued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SII reporting timeline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2522850" y="2100750"/>
            <a:ext cx="2460600" cy="139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CLOCK 02</a:t>
            </a:r>
            <a:endParaRPr b="1"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Invoice received / processed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SII reporting timeline where applicable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5648975" y="2100750"/>
            <a:ext cx="2685900" cy="139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CLOCK 03</a:t>
            </a:r>
            <a:endParaRPr b="1"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Invoice accepted / paid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B2B invoice-state and payment reporting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idx="4294967295" type="title"/>
          </p:nvPr>
        </p:nvSpPr>
        <p:spPr>
          <a:xfrm>
            <a:off x="134150" y="86550"/>
            <a:ext cx="8880600" cy="49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FOLD 3 - 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It's Not Just E-Invoicing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Header: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Think Spain E-Invoicing Is Just About Sending Structured Invoices?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Sub copy: </a:t>
            </a:r>
            <a:r>
              <a:rPr b="0" lang="en" sz="1300"/>
              <a:t>That's where the complexity starts.</a:t>
            </a:r>
            <a:endParaRPr b="0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Para</a:t>
            </a:r>
            <a:r>
              <a:rPr b="0" lang="en" sz="1400"/>
              <a:t>: For many businesses, Spain brings together multiple compliance layers - each with its own scope, data and reporting requirements.</a:t>
            </a:r>
            <a:endParaRPr b="0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Graphic idea</a:t>
            </a:r>
            <a:r>
              <a:rPr lang="en" sz="13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lang="en" sz="14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A large central invoice/card</a:t>
            </a:r>
            <a:r>
              <a:rPr b="0" lang="en" sz="13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300"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YOUR INVOICE in the center</a:t>
            </a:r>
            <a:endParaRPr sz="1300">
              <a:highlight>
                <a:srgbClr val="00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Around the invoice graphic</a:t>
            </a:r>
            <a:r>
              <a:rPr b="0" lang="en" sz="12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lang="en" sz="1300">
                <a:latin typeface="Arial"/>
                <a:ea typeface="Arial"/>
                <a:cs typeface="Arial"/>
                <a:sym typeface="Arial"/>
              </a:rPr>
              <a:t>floating icons of </a:t>
            </a:r>
            <a:endParaRPr b="0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SII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B2B E-INVOICING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INVOICE STATUS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VERIFACTU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1200">
                <a:latin typeface="Arial"/>
                <a:ea typeface="Arial"/>
                <a:cs typeface="Arial"/>
                <a:sym typeface="Arial"/>
              </a:rPr>
              <a:t>Then below:					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One invoice. Multiple compliance questions.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80335"/>
            <a:ext cx="9191425" cy="400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 txBox="1"/>
          <p:nvPr/>
        </p:nvSpPr>
        <p:spPr>
          <a:xfrm>
            <a:off x="109225" y="76325"/>
            <a:ext cx="89730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Fold 10: </a:t>
            </a:r>
            <a:r>
              <a:rPr b="1"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5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Header: </a:t>
            </a:r>
            <a:r>
              <a:rPr b="1" lang="en" sz="15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What if You’re Not Compliant with SII</a:t>
            </a:r>
            <a:r>
              <a:rPr b="1" lang="en" sz="15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15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Note to consider: </a:t>
            </a:r>
            <a:r>
              <a:rPr i="1" lang="en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Being legitimately outside SII is not “SII non-compliance.” The question is whether the particular taxpayer is obliged to keep the relevant register through the competent authority’s SII system.</a:t>
            </a:r>
            <a:endParaRPr i="1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